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4890" autoAdjust="0"/>
    <p:restoredTop sz="94660"/>
  </p:normalViewPr>
  <p:slideViewPr>
    <p:cSldViewPr>
      <p:cViewPr>
        <p:scale>
          <a:sx n="80" d="100"/>
          <a:sy n="80" d="100"/>
        </p:scale>
        <p:origin x="-1301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7373019-B4B2-494F-8390-023A078E5970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0FCE2D9-8BC8-4BE2-A8BA-8C89145378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0"/>
            <a:ext cx="8715436" cy="128586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SMART </a:t>
            </a:r>
            <a:r>
              <a:rPr lang="en-US" sz="3600" dirty="0" smtClean="0"/>
              <a:t>GREEN CORRIDOR SYSTEM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142984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dirty="0" smtClean="0">
                <a:solidFill>
                  <a:srgbClr val="FF0000"/>
                </a:solidFill>
              </a:rPr>
              <a:t>for </a:t>
            </a:r>
            <a:r>
              <a:rPr lang="en-US" sz="3200" b="1" i="0" dirty="0" smtClean="0">
                <a:solidFill>
                  <a:srgbClr val="FF0000"/>
                </a:solidFill>
              </a:rPr>
              <a:t>Emergency Vehicles Using IOT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2071678"/>
            <a:ext cx="307183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TEAM MEMBER:- </a:t>
            </a:r>
          </a:p>
          <a:p>
            <a:endParaRPr lang="en-IN" sz="2000" b="1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dirty="0" err="1" smtClean="0"/>
              <a:t>Aman</a:t>
            </a:r>
            <a:r>
              <a:rPr lang="en-IN" sz="2000" dirty="0" smtClean="0"/>
              <a:t> kr. </a:t>
            </a:r>
            <a:r>
              <a:rPr lang="en-IN" sz="2000" dirty="0" err="1" smtClean="0"/>
              <a:t>Yadav</a:t>
            </a:r>
            <a:r>
              <a:rPr lang="en-IN" sz="2000" dirty="0" smtClean="0"/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dirty="0" err="1" smtClean="0"/>
              <a:t>Aman</a:t>
            </a:r>
            <a:r>
              <a:rPr lang="en-IN" sz="2000" dirty="0" smtClean="0"/>
              <a:t> Raj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dirty="0" err="1" smtClean="0"/>
              <a:t>Rahul</a:t>
            </a:r>
            <a:r>
              <a:rPr lang="en-IN" sz="2000" dirty="0" smtClean="0"/>
              <a:t> kr. </a:t>
            </a:r>
            <a:r>
              <a:rPr lang="en-IN" sz="2000" dirty="0" err="1" smtClean="0"/>
              <a:t>Bharti</a:t>
            </a:r>
            <a:endParaRPr lang="en-IN" sz="20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dirty="0" err="1" smtClean="0"/>
              <a:t>Nilakshi</a:t>
            </a:r>
            <a:r>
              <a:rPr lang="en-IN" sz="2000" dirty="0" smtClean="0"/>
              <a:t> </a:t>
            </a:r>
            <a:r>
              <a:rPr lang="en-IN" sz="2000" dirty="0" err="1" smtClean="0"/>
              <a:t>Bhagat</a:t>
            </a:r>
            <a:endParaRPr lang="en-IN" sz="20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dirty="0" err="1" smtClean="0"/>
              <a:t>Jasnoor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071670" y="6143644"/>
            <a:ext cx="6215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solidFill>
                  <a:srgbClr val="FFFF00"/>
                </a:solidFill>
                <a:latin typeface="Bahnschrift SemiBold" pitchFamily="34" charset="0"/>
              </a:rPr>
              <a:t>PRESENTED BY :- CODE BREAKERS</a:t>
            </a:r>
            <a:endParaRPr lang="en-US" sz="2400" dirty="0">
              <a:solidFill>
                <a:srgbClr val="FFFF00"/>
              </a:solidFill>
              <a:latin typeface="Bahnschrift SemiBold" pitchFamily="34" charset="0"/>
            </a:endParaRPr>
          </a:p>
        </p:txBody>
      </p:sp>
      <p:pic>
        <p:nvPicPr>
          <p:cNvPr id="8" name="Picture 3" descr="C:\Users\Lenovo\Downloads\photo_6229020829677195082_y.jpg"/>
          <p:cNvPicPr>
            <a:picLocks noChangeAspect="1" noChangeArrowheads="1"/>
          </p:cNvPicPr>
          <p:nvPr/>
        </p:nvPicPr>
        <p:blipFill>
          <a:blip r:embed="rId2"/>
          <a:srcRect t="3286" r="16678" b="26000"/>
          <a:stretch>
            <a:fillRect/>
          </a:stretch>
        </p:blipFill>
        <p:spPr bwMode="auto">
          <a:xfrm>
            <a:off x="4071934" y="3357562"/>
            <a:ext cx="3286148" cy="2286016"/>
          </a:xfrm>
          <a:prstGeom prst="rect">
            <a:avLst/>
          </a:prstGeom>
          <a:noFill/>
        </p:spPr>
      </p:pic>
      <p:pic>
        <p:nvPicPr>
          <p:cNvPr id="1026" name="Picture 2" descr="D:\image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6215074" y="2000240"/>
            <a:ext cx="2500330" cy="2130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 descr="C:\Users\Lenovo\Desktop\new-delhi-india-13th-feb-2024-new-delhi-feb-13-ani-an-ambulance-stuck-in-a-massive-traffic-jam-on-the-ghazipur-border-as-police-put-up-barricades-due-to-the-farmers-delhi-chalo-march-in-new-delhi-on-tuesday-ani-phot.jpg"/>
          <p:cNvPicPr>
            <a:picLocks noChangeAspect="1" noChangeArrowheads="1"/>
          </p:cNvPicPr>
          <p:nvPr/>
        </p:nvPicPr>
        <p:blipFill>
          <a:blip r:embed="rId4"/>
          <a:srcRect l="22957" t="20523" r="15745" b="13155"/>
          <a:stretch>
            <a:fillRect/>
          </a:stretch>
        </p:blipFill>
        <p:spPr bwMode="auto">
          <a:xfrm>
            <a:off x="3857620" y="2143116"/>
            <a:ext cx="2428892" cy="1857388"/>
          </a:xfrm>
          <a:prstGeom prst="rect">
            <a:avLst/>
          </a:prstGeom>
          <a:noFill/>
        </p:spPr>
      </p:pic>
      <p:pic>
        <p:nvPicPr>
          <p:cNvPr id="1029" name="Picture 5" descr="C:\Users\Lenovo\Desktop\download.jpg"/>
          <p:cNvPicPr>
            <a:picLocks noChangeAspect="1" noChangeArrowheads="1"/>
          </p:cNvPicPr>
          <p:nvPr/>
        </p:nvPicPr>
        <p:blipFill>
          <a:blip r:embed="rId5"/>
          <a:srcRect l="19737" b="1315"/>
          <a:stretch>
            <a:fillRect/>
          </a:stretch>
        </p:blipFill>
        <p:spPr bwMode="auto">
          <a:xfrm>
            <a:off x="6357950" y="4071942"/>
            <a:ext cx="2033584" cy="178595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2900"/>
            <a:ext cx="9144000" cy="1143000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B0F0"/>
                </a:solidFill>
              </a:rPr>
              <a:t>INTRODUCTION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642918"/>
            <a:ext cx="84296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150000"/>
              </a:lnSpc>
            </a:pPr>
            <a:r>
              <a:rPr lang="en-US" sz="2000" b="1" dirty="0" smtClean="0"/>
              <a:t>Delay in emergency vehicles due to high traffic</a:t>
            </a:r>
            <a:r>
              <a:rPr lang="en-US" sz="2000" b="1" dirty="0" smtClean="0">
                <a:latin typeface="+mj-lt"/>
              </a:rPr>
              <a:t> causes :-</a:t>
            </a:r>
          </a:p>
          <a:p>
            <a:pPr marL="182563" indent="-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Death of approx 20,000 to 25,000 people every day.</a:t>
            </a:r>
          </a:p>
          <a:p>
            <a:pPr marL="182563" indent="-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S</a:t>
            </a:r>
            <a:r>
              <a:rPr lang="en-IN" sz="2000" dirty="0" err="1" smtClean="0">
                <a:latin typeface="+mj-lt"/>
              </a:rPr>
              <a:t>ame</a:t>
            </a:r>
            <a:r>
              <a:rPr lang="en-IN" sz="2000" dirty="0" smtClean="0">
                <a:latin typeface="+mj-lt"/>
              </a:rPr>
              <a:t> happens With to fire fighting trucks and other emergency vehicles.</a:t>
            </a:r>
            <a:endParaRPr lang="en-US" sz="2000" dirty="0" smtClean="0">
              <a:latin typeface="+mj-lt"/>
            </a:endParaRPr>
          </a:p>
          <a:p>
            <a:pPr indent="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Causing </a:t>
            </a:r>
            <a:r>
              <a:rPr lang="en-US" sz="2000" b="1" dirty="0" smtClean="0">
                <a:latin typeface="+mj-lt"/>
              </a:rPr>
              <a:t>loss of human lives </a:t>
            </a:r>
            <a:r>
              <a:rPr lang="en-US" sz="2000" dirty="0" smtClean="0">
                <a:latin typeface="+mj-lt"/>
              </a:rPr>
              <a:t>&amp; </a:t>
            </a:r>
            <a:r>
              <a:rPr lang="en-US" sz="2000" b="1" dirty="0" smtClean="0">
                <a:latin typeface="+mj-lt"/>
              </a:rPr>
              <a:t>losses of property</a:t>
            </a:r>
            <a:r>
              <a:rPr lang="en-US" sz="2000" dirty="0" smtClean="0">
                <a:latin typeface="+mj-lt"/>
              </a:rPr>
              <a:t>.</a:t>
            </a:r>
          </a:p>
          <a:p>
            <a:pPr indent="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This system provides a smarter way to resolve this problem where every      </a:t>
            </a:r>
          </a:p>
          <a:p>
            <a:pPr indent="182563">
              <a:lnSpc>
                <a:spcPct val="150000"/>
              </a:lnSpc>
            </a:pPr>
            <a:r>
              <a:rPr lang="en-US" sz="2000" dirty="0" smtClean="0">
                <a:latin typeface="+mj-lt"/>
              </a:rPr>
              <a:t>  second delay can cost a life.</a:t>
            </a:r>
          </a:p>
          <a:p>
            <a:pPr indent="182563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indent="182563">
              <a:lnSpc>
                <a:spcPct val="150000"/>
              </a:lnSpc>
            </a:pPr>
            <a:endParaRPr lang="en-US" sz="2000" dirty="0" smtClean="0">
              <a:latin typeface="+mj-lt"/>
            </a:endParaRPr>
          </a:p>
          <a:p>
            <a:pPr indent="182563">
              <a:lnSpc>
                <a:spcPct val="150000"/>
              </a:lnSpc>
            </a:pPr>
            <a:endParaRPr lang="en-US" sz="2000" dirty="0" smtClean="0">
              <a:latin typeface="+mj-lt"/>
            </a:endParaRPr>
          </a:p>
        </p:txBody>
      </p:sp>
      <p:pic>
        <p:nvPicPr>
          <p:cNvPr id="5" name="Picture 4" descr="photo.jpg"/>
          <p:cNvPicPr>
            <a:picLocks noChangeAspect="1"/>
          </p:cNvPicPr>
          <p:nvPr/>
        </p:nvPicPr>
        <p:blipFill>
          <a:blip r:embed="rId2" cstate="print"/>
          <a:srcRect l="6251" t="3937" r="5910" b="1968"/>
          <a:stretch>
            <a:fillRect/>
          </a:stretch>
        </p:blipFill>
        <p:spPr>
          <a:xfrm>
            <a:off x="4572000" y="3500438"/>
            <a:ext cx="4162912" cy="2928093"/>
          </a:xfrm>
          <a:prstGeom prst="rect">
            <a:avLst/>
          </a:prstGeom>
        </p:spPr>
      </p:pic>
      <p:pic>
        <p:nvPicPr>
          <p:cNvPr id="2051" name="Picture 3" descr="C:\Users\Lenovo\Downloads\photo_6229020829677195082_y.jpg"/>
          <p:cNvPicPr>
            <a:picLocks noChangeAspect="1" noChangeArrowheads="1"/>
          </p:cNvPicPr>
          <p:nvPr/>
        </p:nvPicPr>
        <p:blipFill>
          <a:blip r:embed="rId3"/>
          <a:srcRect t="3286" r="27546" b="26000"/>
          <a:stretch>
            <a:fillRect/>
          </a:stretch>
        </p:blipFill>
        <p:spPr bwMode="auto">
          <a:xfrm>
            <a:off x="571472" y="3500438"/>
            <a:ext cx="3786214" cy="292895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srgbClr val="00B0F0"/>
                </a:solidFill>
              </a:rPr>
              <a:t> OUR VISION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357298"/>
            <a:ext cx="85011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To design a real-time traffic control system that </a:t>
            </a:r>
            <a:r>
              <a:rPr lang="en-US" sz="2000" b="1" dirty="0" smtClean="0">
                <a:latin typeface="+mj-lt"/>
              </a:rPr>
              <a:t>prioritizes </a:t>
            </a:r>
            <a:endParaRPr lang="en-US" sz="2000" b="1" dirty="0" smtClean="0">
              <a:latin typeface="+mj-lt"/>
            </a:endParaRPr>
          </a:p>
          <a:p>
            <a:pPr marL="182563" indent="-182563"/>
            <a:r>
              <a:rPr lang="en-US" sz="2000" b="1" dirty="0" smtClean="0">
                <a:latin typeface="+mj-lt"/>
              </a:rPr>
              <a:t>    emergency </a:t>
            </a:r>
            <a:r>
              <a:rPr lang="en-US" sz="2000" b="1" dirty="0" smtClean="0">
                <a:latin typeface="+mj-lt"/>
              </a:rPr>
              <a:t>vehicles</a:t>
            </a:r>
            <a:r>
              <a:rPr lang="en-US" sz="2000" dirty="0" smtClean="0">
                <a:latin typeface="+mj-lt"/>
              </a:rPr>
              <a:t>. </a:t>
            </a:r>
          </a:p>
          <a:p>
            <a:pPr marL="95250" indent="-95250"/>
            <a:endParaRPr lang="en-US" sz="2000" dirty="0" smtClean="0">
              <a:latin typeface="+mj-lt"/>
            </a:endParaRPr>
          </a:p>
          <a:p>
            <a:pPr marL="95250" indent="-95250"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To detect </a:t>
            </a:r>
            <a:r>
              <a:rPr lang="en-US" sz="2000" dirty="0" smtClean="0">
                <a:latin typeface="+mj-lt"/>
              </a:rPr>
              <a:t>emergency vehicles using </a:t>
            </a:r>
            <a:r>
              <a:rPr lang="en-US" sz="2000" dirty="0" smtClean="0">
                <a:latin typeface="+mj-lt"/>
              </a:rPr>
              <a:t>IOT </a:t>
            </a:r>
            <a:r>
              <a:rPr lang="en-US" sz="2000" dirty="0" smtClean="0">
                <a:latin typeface="+mj-lt"/>
              </a:rPr>
              <a:t>technology and </a:t>
            </a:r>
            <a:r>
              <a:rPr lang="en-US" sz="2000" dirty="0" smtClean="0">
                <a:latin typeface="+mj-lt"/>
              </a:rPr>
              <a:t> </a:t>
            </a:r>
          </a:p>
          <a:p>
            <a:pPr marL="95250" indent="-95250"/>
            <a:r>
              <a:rPr lang="en-US" sz="2000" dirty="0" smtClean="0">
                <a:latin typeface="+mj-lt"/>
              </a:rPr>
              <a:t>    provide </a:t>
            </a:r>
            <a:r>
              <a:rPr lang="en-US" sz="2000" dirty="0" smtClean="0">
                <a:latin typeface="+mj-lt"/>
              </a:rPr>
              <a:t>a clear path (green corridor) .</a:t>
            </a:r>
          </a:p>
          <a:p>
            <a:pPr marL="95250" indent="-95250"/>
            <a:endParaRPr lang="en-US" sz="2000" dirty="0" smtClean="0">
              <a:latin typeface="+mj-lt"/>
            </a:endParaRPr>
          </a:p>
          <a:p>
            <a:pPr marL="95250" indent="-95250"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To </a:t>
            </a:r>
            <a:r>
              <a:rPr lang="en-US" sz="2000" dirty="0" smtClean="0">
                <a:latin typeface="+mj-lt"/>
              </a:rPr>
              <a:t>create a system that do </a:t>
            </a:r>
            <a:r>
              <a:rPr lang="en-US" sz="2000" b="1" dirty="0" smtClean="0">
                <a:latin typeface="+mj-lt"/>
              </a:rPr>
              <a:t>not depend on Internet</a:t>
            </a:r>
            <a:r>
              <a:rPr lang="en-US" sz="2000" dirty="0" smtClean="0">
                <a:latin typeface="+mj-lt"/>
              </a:rPr>
              <a:t>.</a:t>
            </a:r>
            <a:endParaRPr lang="en-US" sz="2000" dirty="0" smtClean="0">
              <a:latin typeface="+mj-lt"/>
            </a:endParaRPr>
          </a:p>
          <a:p>
            <a:pPr marL="95250" indent="-95250"/>
            <a:endParaRPr lang="en-US" sz="2000" dirty="0" smtClean="0">
              <a:latin typeface="+mj-lt"/>
            </a:endParaRPr>
          </a:p>
          <a:p>
            <a:pPr marL="180975" indent="-180975"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To </a:t>
            </a:r>
            <a:r>
              <a:rPr lang="en-US" sz="2000" dirty="0" smtClean="0">
                <a:latin typeface="+mj-lt"/>
              </a:rPr>
              <a:t>develop a system that supports all types of emergency </a:t>
            </a:r>
            <a:endParaRPr lang="en-US" sz="2000" dirty="0" smtClean="0">
              <a:latin typeface="+mj-lt"/>
            </a:endParaRPr>
          </a:p>
          <a:p>
            <a:pPr marL="180975" indent="-180975"/>
            <a:r>
              <a:rPr lang="en-US" sz="2000" dirty="0" smtClean="0">
                <a:latin typeface="+mj-lt"/>
              </a:rPr>
              <a:t>    vehicles </a:t>
            </a:r>
            <a:r>
              <a:rPr lang="en-US" sz="2000" dirty="0" smtClean="0">
                <a:latin typeface="+mj-lt"/>
              </a:rPr>
              <a:t>such as ambulance, fire </a:t>
            </a:r>
            <a:r>
              <a:rPr lang="en-US" sz="2000" dirty="0" smtClean="0">
                <a:latin typeface="+mj-lt"/>
              </a:rPr>
              <a:t>brigade, police, </a:t>
            </a:r>
            <a:r>
              <a:rPr lang="en-US" sz="2000" dirty="0" smtClean="0"/>
              <a:t>special VIP   </a:t>
            </a:r>
          </a:p>
          <a:p>
            <a:pPr marL="180975" indent="-180975"/>
            <a:r>
              <a:rPr lang="en-US" sz="2000" dirty="0" smtClean="0"/>
              <a:t> </a:t>
            </a:r>
            <a:r>
              <a:rPr lang="en-US" sz="2000" dirty="0" smtClean="0"/>
              <a:t>   convoys, </a:t>
            </a:r>
            <a:r>
              <a:rPr lang="en-US" sz="2000" dirty="0" smtClean="0">
                <a:latin typeface="+mj-lt"/>
              </a:rPr>
              <a:t>etc. </a:t>
            </a:r>
            <a:endParaRPr lang="en-US" sz="2000" dirty="0">
              <a:latin typeface="+mj-lt"/>
            </a:endParaRPr>
          </a:p>
          <a:p>
            <a:pPr marL="95250" indent="-95250"/>
            <a:endParaRPr lang="en-US" sz="2000" dirty="0" smtClean="0">
              <a:latin typeface="+mj-lt"/>
            </a:endParaRPr>
          </a:p>
          <a:p>
            <a:pPr marL="182563" indent="-182563">
              <a:buFont typeface="Wingdings" pitchFamily="2" charset="2"/>
              <a:buChar char="Ø"/>
            </a:pPr>
            <a:r>
              <a:rPr lang="en-US" sz="2000" dirty="0" smtClean="0">
                <a:latin typeface="+mj-lt"/>
              </a:rPr>
              <a:t> To </a:t>
            </a:r>
            <a:r>
              <a:rPr lang="en-US" sz="2000" dirty="0" smtClean="0">
                <a:latin typeface="+mj-lt"/>
              </a:rPr>
              <a:t>implement a </a:t>
            </a:r>
            <a:r>
              <a:rPr lang="en-US" sz="2000" dirty="0" smtClean="0">
                <a:latin typeface="+mj-lt"/>
              </a:rPr>
              <a:t>smart, scalable </a:t>
            </a:r>
            <a:r>
              <a:rPr lang="en-US" sz="2000" dirty="0" smtClean="0">
                <a:latin typeface="+mj-lt"/>
              </a:rPr>
              <a:t>solution for future smart city </a:t>
            </a:r>
            <a:r>
              <a:rPr lang="en-US" sz="2000" dirty="0" smtClean="0">
                <a:latin typeface="+mj-lt"/>
              </a:rPr>
              <a:t>  </a:t>
            </a:r>
          </a:p>
          <a:p>
            <a:pPr marL="182563" indent="-182563"/>
            <a:r>
              <a:rPr lang="en-US" sz="2000" dirty="0" smtClean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   </a:t>
            </a:r>
            <a:r>
              <a:rPr lang="en-US" sz="2000" dirty="0" smtClean="0">
                <a:latin typeface="+mj-lt"/>
              </a:rPr>
              <a:t>infrastructure</a:t>
            </a:r>
            <a:r>
              <a:rPr lang="en-US" sz="2000" dirty="0" smtClean="0">
                <a:latin typeface="+mj-lt"/>
              </a:rPr>
              <a:t> without changing the present infrastructure. </a:t>
            </a:r>
            <a:endParaRPr lang="en-US" sz="2000" dirty="0" smtClean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844" y="714356"/>
            <a:ext cx="885831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A smart </a:t>
            </a:r>
            <a:r>
              <a:rPr lang="en-US" sz="2000" dirty="0" err="1" smtClean="0">
                <a:latin typeface="Calisto MT" pitchFamily="18" charset="0"/>
              </a:rPr>
              <a:t>IoT</a:t>
            </a:r>
            <a:r>
              <a:rPr lang="en-US" sz="2000" dirty="0" smtClean="0">
                <a:latin typeface="Calisto MT" pitchFamily="18" charset="0"/>
              </a:rPr>
              <a:t> device </a:t>
            </a:r>
            <a:r>
              <a:rPr lang="en-US" sz="2000" dirty="0" smtClean="0">
                <a:latin typeface="Calisto MT" pitchFamily="18" charset="0"/>
              </a:rPr>
              <a:t>is installed inside emergency </a:t>
            </a:r>
            <a:r>
              <a:rPr lang="en-US" sz="2000" dirty="0" smtClean="0">
                <a:latin typeface="Calisto MT" pitchFamily="18" charset="0"/>
              </a:rPr>
              <a:t>vehicles acts as </a:t>
            </a:r>
            <a:r>
              <a:rPr lang="en-US" sz="2000" b="1" dirty="0" smtClean="0">
                <a:latin typeface="Calisto MT" pitchFamily="18" charset="0"/>
              </a:rPr>
              <a:t>Transmitter</a:t>
            </a:r>
            <a:r>
              <a:rPr lang="en-US" sz="2000" dirty="0" smtClean="0">
                <a:latin typeface="Calisto MT" pitchFamily="18" charset="0"/>
              </a:rPr>
              <a:t>. </a:t>
            </a:r>
            <a:endParaRPr lang="en-US" sz="2000" dirty="0" smtClean="0">
              <a:latin typeface="Calisto MT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This device </a:t>
            </a:r>
            <a:r>
              <a:rPr lang="en-US" sz="2000" dirty="0" smtClean="0">
                <a:latin typeface="Calisto MT" pitchFamily="18" charset="0"/>
              </a:rPr>
              <a:t>sends </a:t>
            </a:r>
            <a:r>
              <a:rPr lang="en-US" sz="2000" dirty="0" smtClean="0">
                <a:latin typeface="Calisto MT" pitchFamily="18" charset="0"/>
              </a:rPr>
              <a:t>a wireless </a:t>
            </a:r>
            <a:r>
              <a:rPr lang="en-US" sz="2000" dirty="0" smtClean="0">
                <a:latin typeface="Calisto MT" pitchFamily="18" charset="0"/>
              </a:rPr>
              <a:t>signal using a </a:t>
            </a:r>
            <a:r>
              <a:rPr lang="en-US" sz="2000" b="1" dirty="0" smtClean="0">
                <a:latin typeface="Calisto MT" pitchFamily="18" charset="0"/>
              </a:rPr>
              <a:t>personal </a:t>
            </a:r>
            <a:r>
              <a:rPr lang="en-US" sz="2000" b="1" dirty="0" err="1" smtClean="0">
                <a:latin typeface="Calisto MT" pitchFamily="18" charset="0"/>
              </a:rPr>
              <a:t>WiFi</a:t>
            </a:r>
            <a:r>
              <a:rPr lang="en-US" sz="2000" b="1" dirty="0" smtClean="0">
                <a:latin typeface="Calisto MT" pitchFamily="18" charset="0"/>
              </a:rPr>
              <a:t> network</a:t>
            </a:r>
            <a:r>
              <a:rPr lang="en-US" sz="2000" dirty="0" smtClean="0">
                <a:latin typeface="Calisto MT" pitchFamily="18" charset="0"/>
              </a:rPr>
              <a:t>. </a:t>
            </a:r>
            <a:endParaRPr lang="en-US" sz="2000" dirty="0" smtClean="0">
              <a:latin typeface="Calisto MT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</a:t>
            </a:r>
            <a:r>
              <a:rPr lang="en-US" sz="2000" dirty="0" smtClean="0">
                <a:latin typeface="Calisto MT" pitchFamily="18" charset="0"/>
              </a:rPr>
              <a:t>Another </a:t>
            </a:r>
            <a:r>
              <a:rPr lang="en-US" sz="2000" dirty="0" err="1" smtClean="0">
                <a:latin typeface="Calisto MT" pitchFamily="18" charset="0"/>
              </a:rPr>
              <a:t>IoT</a:t>
            </a:r>
            <a:r>
              <a:rPr lang="en-US" sz="2000" dirty="0" smtClean="0">
                <a:latin typeface="Calisto MT" pitchFamily="18" charset="0"/>
              </a:rPr>
              <a:t> unit </a:t>
            </a:r>
            <a:r>
              <a:rPr lang="en-US" sz="2000" dirty="0" smtClean="0">
                <a:latin typeface="Calisto MT" pitchFamily="18" charset="0"/>
              </a:rPr>
              <a:t>is placed at the traffic </a:t>
            </a:r>
            <a:r>
              <a:rPr lang="en-US" sz="2000" dirty="0" smtClean="0">
                <a:latin typeface="Calisto MT" pitchFamily="18" charset="0"/>
              </a:rPr>
              <a:t>signal which acts as </a:t>
            </a:r>
            <a:r>
              <a:rPr lang="en-US" sz="2000" b="1" dirty="0" err="1" smtClean="0">
                <a:latin typeface="Calisto MT" pitchFamily="18" charset="0"/>
              </a:rPr>
              <a:t>Reciever</a:t>
            </a:r>
            <a:r>
              <a:rPr lang="en-US" sz="2000" dirty="0" smtClean="0">
                <a:latin typeface="Calisto MT" pitchFamily="18" charset="0"/>
              </a:rPr>
              <a:t>.</a:t>
            </a:r>
            <a:endParaRPr lang="en-US" sz="2000" dirty="0" smtClean="0">
              <a:latin typeface="Calisto MT" pitchFamily="18" charset="0"/>
            </a:endParaRPr>
          </a:p>
          <a:p>
            <a:pPr marL="182563" indent="-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When </a:t>
            </a:r>
            <a:r>
              <a:rPr lang="en-US" sz="2000" dirty="0" smtClean="0">
                <a:latin typeface="Calisto MT" pitchFamily="18" charset="0"/>
              </a:rPr>
              <a:t>the emergency vehicle enters within a </a:t>
            </a:r>
            <a:r>
              <a:rPr lang="en-US" sz="2000" dirty="0" smtClean="0">
                <a:latin typeface="Calisto MT" pitchFamily="18" charset="0"/>
              </a:rPr>
              <a:t>specific area of </a:t>
            </a:r>
            <a:r>
              <a:rPr lang="en-US" sz="2000" dirty="0" err="1" smtClean="0">
                <a:latin typeface="Calisto MT" pitchFamily="18" charset="0"/>
              </a:rPr>
              <a:t>IoT</a:t>
            </a:r>
            <a:r>
              <a:rPr lang="en-US" sz="2000" dirty="0" smtClean="0">
                <a:latin typeface="Calisto MT" pitchFamily="18" charset="0"/>
              </a:rPr>
              <a:t> devices  </a:t>
            </a:r>
          </a:p>
          <a:p>
            <a:pPr marL="182563" indent="-182563">
              <a:lnSpc>
                <a:spcPct val="150000"/>
              </a:lnSpc>
            </a:pPr>
            <a:r>
              <a:rPr lang="en-US" sz="2000" dirty="0" smtClean="0">
                <a:latin typeface="Calisto MT" pitchFamily="18" charset="0"/>
              </a:rPr>
              <a:t>    (Vehicle – Traffic Lights) </a:t>
            </a:r>
            <a:r>
              <a:rPr lang="en-US" sz="2000" dirty="0" smtClean="0">
                <a:latin typeface="Calisto MT" pitchFamily="18" charset="0"/>
              </a:rPr>
              <a:t>t</a:t>
            </a:r>
            <a:r>
              <a:rPr lang="en-US" sz="2000" dirty="0" smtClean="0">
                <a:latin typeface="Calisto MT" pitchFamily="18" charset="0"/>
              </a:rPr>
              <a:t>he </a:t>
            </a:r>
            <a:r>
              <a:rPr lang="en-US" sz="2000" dirty="0" smtClean="0">
                <a:latin typeface="Calisto MT" pitchFamily="18" charset="0"/>
              </a:rPr>
              <a:t>driver</a:t>
            </a:r>
            <a:r>
              <a:rPr lang="en-US" sz="2000" dirty="0" smtClean="0">
                <a:latin typeface="Calisto MT" pitchFamily="18" charset="0"/>
              </a:rPr>
              <a:t> will identifies the lane &amp; send a  </a:t>
            </a:r>
          </a:p>
          <a:p>
            <a:pPr marL="182563" indent="-182563">
              <a:lnSpc>
                <a:spcPct val="150000"/>
              </a:lnSpc>
            </a:pPr>
            <a:r>
              <a:rPr lang="en-US" sz="2000" dirty="0" smtClean="0">
                <a:latin typeface="Calisto MT" pitchFamily="18" charset="0"/>
              </a:rPr>
              <a:t>    request/control signal.</a:t>
            </a:r>
            <a:endParaRPr lang="en-US" sz="2000" dirty="0" smtClean="0">
              <a:latin typeface="Calisto MT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Immediately, the corresponding traffic signal turns </a:t>
            </a:r>
            <a:r>
              <a:rPr lang="en-US" sz="2000" b="1" dirty="0" smtClean="0">
                <a:solidFill>
                  <a:srgbClr val="00B050"/>
                </a:solidFill>
                <a:latin typeface="Calisto MT" pitchFamily="18" charset="0"/>
              </a:rPr>
              <a:t>GREEN</a:t>
            </a:r>
            <a:r>
              <a:rPr lang="en-US" sz="2000" dirty="0" smtClean="0">
                <a:latin typeface="Calisto MT" pitchFamily="18" charset="0"/>
              </a:rPr>
              <a:t> &amp; other lanes will 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Calisto MT" pitchFamily="18" charset="0"/>
              </a:rPr>
              <a:t>    turn  to </a:t>
            </a:r>
            <a:r>
              <a:rPr lang="en-US" sz="2000" b="1" dirty="0" smtClean="0">
                <a:solidFill>
                  <a:srgbClr val="FF0000"/>
                </a:solidFill>
                <a:latin typeface="Calisto MT" pitchFamily="18" charset="0"/>
              </a:rPr>
              <a:t>RED</a:t>
            </a:r>
            <a:r>
              <a:rPr lang="en-US" sz="2000" dirty="0" smtClean="0">
                <a:latin typeface="Calisto MT" pitchFamily="18" charset="0"/>
              </a:rPr>
              <a:t>.</a:t>
            </a:r>
            <a:endParaRPr lang="en-US" sz="2000" dirty="0" smtClean="0">
              <a:latin typeface="Calisto MT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Vehicles in other lanes automatically stop on their left side.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A clear path is created, allowing the emergency vehicle to pass smoothly. </a:t>
            </a:r>
          </a:p>
          <a:p>
            <a:pPr marL="182563" indent="-1825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Calisto MT" pitchFamily="18" charset="0"/>
              </a:rPr>
              <a:t> After crossing, the system resets to normal operation.</a:t>
            </a:r>
            <a:endParaRPr lang="en-US" sz="2000" dirty="0">
              <a:latin typeface="Calisto MT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976" y="6470"/>
            <a:ext cx="71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B0F0"/>
                </a:solidFill>
                <a:latin typeface="+mj-lt"/>
              </a:rPr>
              <a:t>How the System Works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4892" y="191136"/>
            <a:ext cx="446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B0F0"/>
                </a:solidFill>
                <a:latin typeface="+mj-lt"/>
              </a:rPr>
              <a:t>System Concept</a:t>
            </a:r>
            <a:endParaRPr lang="en-US" sz="32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785794"/>
            <a:ext cx="698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 Device Setup</a:t>
            </a:r>
            <a:r>
              <a:rPr lang="en-US" sz="2000" dirty="0" smtClean="0"/>
              <a:t>   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80276" y="2695701"/>
            <a:ext cx="79208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Each sender device has a unique </a:t>
            </a:r>
            <a:r>
              <a:rPr lang="en-US" b="1" dirty="0" smtClean="0"/>
              <a:t>MAC address</a:t>
            </a:r>
            <a:r>
              <a:rPr lang="en-US" dirty="0" smtClean="0"/>
              <a:t> .</a:t>
            </a:r>
          </a:p>
          <a:p>
            <a:endParaRPr lang="en-US" sz="600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For communication, the receiver must know the sender’s MAC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  </a:t>
            </a:r>
            <a:r>
              <a:rPr lang="en-US" dirty="0" smtClean="0"/>
              <a:t>address</a:t>
            </a:r>
            <a:r>
              <a:rPr lang="en-US" dirty="0" smtClean="0"/>
              <a:t>.</a:t>
            </a:r>
            <a:endParaRPr lang="en-US" sz="600" dirty="0"/>
          </a:p>
          <a:p>
            <a:endParaRPr lang="en-US" sz="600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This ensures secure and accurate connection between devices.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5616" y="4049634"/>
            <a:ext cx="7885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b="1" dirty="0" smtClean="0"/>
          </a:p>
          <a:p>
            <a:pPr marL="182563" indent="-182563">
              <a:buFont typeface="Wingdings" pitchFamily="2" charset="2"/>
              <a:buChar char="§"/>
            </a:pPr>
            <a:r>
              <a:rPr lang="en-US" dirty="0" smtClean="0"/>
              <a:t>When an emergency vehicle needs to pass, the driver informs the control   room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driver shares: </a:t>
            </a:r>
          </a:p>
          <a:p>
            <a:pPr lvl="1"/>
            <a:r>
              <a:rPr lang="en-US" dirty="0" smtClean="0"/>
              <a:t>1. Vehicle’s </a:t>
            </a:r>
            <a:r>
              <a:rPr lang="en-US" b="1" dirty="0" smtClean="0"/>
              <a:t>MAC address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2. Current </a:t>
            </a:r>
            <a:r>
              <a:rPr lang="en-US" b="1" dirty="0" smtClean="0"/>
              <a:t>lane/route number</a:t>
            </a: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control room forwards this information to the respective traffic signal system</a:t>
            </a:r>
          </a:p>
          <a:p>
            <a:pPr marL="182563" indent="-182563">
              <a:buFont typeface="Wingdings" pitchFamily="2" charset="2"/>
              <a:buChar char="§"/>
            </a:pPr>
            <a:endParaRPr lang="en-US" dirty="0" smtClean="0"/>
          </a:p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00100" y="1071546"/>
            <a:ext cx="721523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 smtClean="0"/>
              <a:t> The system consists of two devices: a </a:t>
            </a:r>
            <a:r>
              <a:rPr lang="en-US" b="1" dirty="0" smtClean="0"/>
              <a:t>Sender</a:t>
            </a:r>
            <a:r>
              <a:rPr lang="en-US" dirty="0" smtClean="0"/>
              <a:t> and a </a:t>
            </a:r>
            <a:r>
              <a:rPr lang="en-US" b="1" dirty="0" smtClean="0"/>
              <a:t>Receiver</a:t>
            </a:r>
            <a:r>
              <a:rPr lang="en-US" dirty="0" smtClean="0"/>
              <a:t> 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</a:t>
            </a:r>
            <a:r>
              <a:rPr lang="en-US" b="1" dirty="0" smtClean="0"/>
              <a:t>Sender device</a:t>
            </a:r>
            <a:r>
              <a:rPr lang="en-US" dirty="0" smtClean="0"/>
              <a:t> is installed inside the emergency vehicle .  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</a:t>
            </a:r>
            <a:r>
              <a:rPr lang="en-US" b="1" dirty="0" smtClean="0"/>
              <a:t>Receiver device</a:t>
            </a:r>
            <a:r>
              <a:rPr lang="en-US" dirty="0" smtClean="0"/>
              <a:t> is installed at the traffic signal or control </a:t>
            </a:r>
            <a:endParaRPr lang="en-US" dirty="0" smtClean="0"/>
          </a:p>
          <a:p>
            <a:r>
              <a:rPr lang="en-US" dirty="0" smtClean="0"/>
              <a:t>   room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42910" y="2345288"/>
            <a:ext cx="492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MAC Address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10" y="3988362"/>
            <a:ext cx="378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Control Room Coordination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5786" y="345024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Detection and Signal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6" y="2350652"/>
            <a:ext cx="807249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sz="2000" dirty="0" smtClean="0"/>
              <a:t>Vehicles in other lanes automatically stop 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Drivers move to the </a:t>
            </a:r>
            <a:r>
              <a:rPr lang="en-US" sz="2000" b="1" dirty="0" smtClean="0"/>
              <a:t>left side</a:t>
            </a:r>
            <a:r>
              <a:rPr lang="en-US" sz="2000" dirty="0" smtClean="0"/>
              <a:t>, creating a clear path 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The emergency vehicle passes smoothly without delay .</a:t>
            </a:r>
          </a:p>
          <a:p>
            <a:pPr lvl="1"/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14348" y="1988098"/>
            <a:ext cx="378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Traffic Clearance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2976" y="862596"/>
            <a:ext cx="57150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sz="2000" dirty="0" smtClean="0">
                <a:latin typeface="+mj-lt"/>
              </a:rPr>
              <a:t>The system verifies the MAC address </a:t>
            </a:r>
          </a:p>
          <a:p>
            <a:pPr marL="182563" indent="-182563">
              <a:buFont typeface="Wingdings" pitchFamily="2" charset="2"/>
              <a:buChar char="§"/>
            </a:pPr>
            <a:r>
              <a:rPr lang="en-US" sz="2000" dirty="0" smtClean="0">
                <a:latin typeface="+mj-lt"/>
              </a:rPr>
              <a:t>The corresponding lane signal turns </a:t>
            </a:r>
            <a:r>
              <a:rPr lang="en-US" sz="2000" b="1" dirty="0" smtClean="0">
                <a:latin typeface="+mj-lt"/>
              </a:rPr>
              <a:t>GREEN</a:t>
            </a:r>
            <a:r>
              <a:rPr lang="en-US" sz="2000" dirty="0" smtClean="0">
                <a:latin typeface="+mj-lt"/>
              </a:rPr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+mj-lt"/>
              </a:rPr>
              <a:t> All other lanes turn </a:t>
            </a:r>
            <a:r>
              <a:rPr lang="en-US" sz="2000" b="1" dirty="0" smtClean="0">
                <a:latin typeface="+mj-lt"/>
              </a:rPr>
              <a:t>RED</a:t>
            </a:r>
            <a:r>
              <a:rPr lang="en-US" sz="2000" dirty="0" smtClean="0">
                <a:latin typeface="+mj-lt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786" y="3559734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 System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6" y="4000504"/>
            <a:ext cx="778671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Wingdings" pitchFamily="2" charset="2"/>
              <a:buChar char="§"/>
            </a:pPr>
            <a:r>
              <a:rPr lang="en-US" sz="2000" dirty="0" smtClean="0"/>
              <a:t> Once the emergency vehicle crosses the signal and exits the 200-meter      range all the connections lost  .</a:t>
            </a:r>
          </a:p>
          <a:p>
            <a:pPr marL="182563" indent="-182563">
              <a:buFont typeface="Wingdings" pitchFamily="2" charset="2"/>
              <a:buChar char="§"/>
            </a:pPr>
            <a:r>
              <a:rPr lang="en-US" sz="2000" dirty="0" smtClean="0"/>
              <a:t>The system automatically resets. </a:t>
            </a:r>
          </a:p>
          <a:p>
            <a:pPr marL="182563" indent="-182563">
              <a:buFont typeface="Wingdings" pitchFamily="2" charset="2"/>
              <a:buChar char="§"/>
            </a:pPr>
            <a:r>
              <a:rPr lang="en-US" sz="2000" dirty="0" smtClean="0"/>
              <a:t>Normal traffic operation resumes </a:t>
            </a:r>
          </a:p>
          <a:p>
            <a:pPr marL="182563" indent="-182563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5786" y="714356"/>
            <a:ext cx="7715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smtClean="0">
                <a:solidFill>
                  <a:schemeClr val="accent5"/>
                </a:solidFill>
              </a:rPr>
              <a:t>BENEFITS</a:t>
            </a:r>
            <a:endParaRPr lang="en-US" sz="4000" b="1" dirty="0">
              <a:solidFill>
                <a:schemeClr val="accent5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357298"/>
            <a:ext cx="85725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This system saves human lives and property.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IN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This solution can be applied without changing the present infrastructure.</a:t>
            </a:r>
            <a:endParaRPr lang="en-US" sz="20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Cost-effective solution.</a:t>
            </a:r>
            <a:endParaRPr lang="en-US" sz="20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Supports smart city </a:t>
            </a: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development.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Reduces </a:t>
            </a: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traffic </a:t>
            </a: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congestion.</a:t>
            </a:r>
            <a:endParaRPr lang="en-US" sz="20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3074" name="Picture 2" descr="C:\Users\Lenovo\Downloads\photo_6229020829677195096_y.jpg"/>
          <p:cNvPicPr>
            <a:picLocks noChangeAspect="1" noChangeArrowheads="1"/>
          </p:cNvPicPr>
          <p:nvPr/>
        </p:nvPicPr>
        <p:blipFill>
          <a:blip r:embed="rId2"/>
          <a:srcRect l="6437" t="6779" r="3743" b="1695"/>
          <a:stretch>
            <a:fillRect/>
          </a:stretch>
        </p:blipFill>
        <p:spPr bwMode="auto">
          <a:xfrm>
            <a:off x="4500562" y="2857496"/>
            <a:ext cx="4500594" cy="38576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pPr algn="ctr"/>
            <a:r>
              <a:rPr lang="en-IN" dirty="0" smtClean="0"/>
              <a:t>THANK YOU </a:t>
            </a:r>
            <a:endParaRPr lang="en-US" dirty="0">
              <a:latin typeface="EMOJ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287</TotalTime>
  <Words>584</Words>
  <Application>Microsoft Office PowerPoint</Application>
  <PresentationFormat>On-screen Show (4:3)</PresentationFormat>
  <Paragraphs>86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SMART GREEN CORRIDOR SYSTEM</vt:lpstr>
      <vt:lpstr>INTRODUCTION</vt:lpstr>
      <vt:lpstr> OUR VISION</vt:lpstr>
      <vt:lpstr>Slide 4</vt:lpstr>
      <vt:lpstr>Slide 5</vt:lpstr>
      <vt:lpstr>Slide 6</vt:lpstr>
      <vt:lpstr>Slide 7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LIGHT  SYSTEM</dc:title>
  <dc:creator>Lenovo</dc:creator>
  <cp:lastModifiedBy>Lenovo</cp:lastModifiedBy>
  <cp:revision>43</cp:revision>
  <dcterms:created xsi:type="dcterms:W3CDTF">2026-03-31T07:52:45Z</dcterms:created>
  <dcterms:modified xsi:type="dcterms:W3CDTF">2026-04-02T10:41:55Z</dcterms:modified>
</cp:coreProperties>
</file>